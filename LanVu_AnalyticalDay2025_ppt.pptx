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3891200" cy="32918400"/>
  <p:notesSz cx="9296400" cy="7010400"/>
  <p:defaultTextStyle>
    <a:defPPr>
      <a:defRPr lang="en-US"/>
    </a:defPPr>
    <a:lvl1pPr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38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anda Nicole Ferguson" initials="ANF" lastIdx="8" clrIdx="0"/>
  <p:cmAuthor id="2" name="Abigail King" initials="AK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F5CB2E"/>
    <a:srgbClr val="E3B32B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890" autoAdjust="0"/>
    <p:restoredTop sz="94660" autoAdjust="0"/>
  </p:normalViewPr>
  <p:slideViewPr>
    <p:cSldViewPr>
      <p:cViewPr varScale="1">
        <p:scale>
          <a:sx n="23" d="100"/>
          <a:sy n="23" d="100"/>
        </p:scale>
        <p:origin x="2178" y="102"/>
      </p:cViewPr>
      <p:guideLst>
        <p:guide orient="horz" pos="3888"/>
        <p:guide pos="1387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t" anchorCtr="0" compatLnSpc="1">
            <a:prstTxWarp prst="textNoShape">
              <a:avLst/>
            </a:prstTxWarp>
          </a:bodyPr>
          <a:lstStyle>
            <a:lvl1pPr algn="l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8913" y="0"/>
            <a:ext cx="4027487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t" anchorCtr="0" compatLnSpc="1">
            <a:prstTxWarp prst="textNoShape">
              <a:avLst/>
            </a:prstTxWarp>
          </a:bodyPr>
          <a:lstStyle>
            <a:lvl1pPr algn="r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563"/>
            <a:ext cx="40274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l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8913" y="6659563"/>
            <a:ext cx="4027487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fld id="{51BFBB92-9EAF-4A98-AC69-D6A49C72F0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431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7488" cy="350838"/>
          </a:xfrm>
          <a:prstGeom prst="rect">
            <a:avLst/>
          </a:prstGeom>
        </p:spPr>
        <p:txBody>
          <a:bodyPr vert="horz" lIns="20062" tIns="10031" rIns="20062" bIns="10031" rtlCol="0"/>
          <a:lstStyle>
            <a:lvl1pPr algn="l">
              <a:defRPr sz="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7487" cy="350838"/>
          </a:xfrm>
          <a:prstGeom prst="rect">
            <a:avLst/>
          </a:prstGeom>
        </p:spPr>
        <p:txBody>
          <a:bodyPr vert="horz" lIns="20062" tIns="10031" rIns="20062" bIns="10031" rtlCol="0"/>
          <a:lstStyle>
            <a:lvl1pPr algn="r">
              <a:defRPr sz="300"/>
            </a:lvl1pPr>
          </a:lstStyle>
          <a:p>
            <a:pPr>
              <a:defRPr/>
            </a:pPr>
            <a:fld id="{5CC69237-968C-4809-BBBD-9304D521757D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0062" tIns="10031" rIns="20062" bIns="100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28988"/>
            <a:ext cx="7435850" cy="3155950"/>
          </a:xfrm>
          <a:prstGeom prst="rect">
            <a:avLst/>
          </a:prstGeom>
        </p:spPr>
        <p:txBody>
          <a:bodyPr vert="horz" lIns="20062" tIns="10031" rIns="20062" bIns="100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27488" cy="349250"/>
          </a:xfrm>
          <a:prstGeom prst="rect">
            <a:avLst/>
          </a:prstGeom>
        </p:spPr>
        <p:txBody>
          <a:bodyPr vert="horz" lIns="20062" tIns="10031" rIns="20062" bIns="10031" rtlCol="0" anchor="b"/>
          <a:lstStyle>
            <a:lvl1pPr algn="l">
              <a:defRPr sz="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659563"/>
            <a:ext cx="4027487" cy="349250"/>
          </a:xfrm>
          <a:prstGeom prst="rect">
            <a:avLst/>
          </a:prstGeom>
        </p:spPr>
        <p:txBody>
          <a:bodyPr vert="horz" lIns="20062" tIns="10031" rIns="20062" bIns="10031" rtlCol="0" anchor="b"/>
          <a:lstStyle>
            <a:lvl1pPr algn="r">
              <a:defRPr sz="300"/>
            </a:lvl1pPr>
          </a:lstStyle>
          <a:p>
            <a:pPr>
              <a:defRPr/>
            </a:pPr>
            <a:fld id="{B4C89677-0636-4F7D-8E45-6997A3D618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32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350F54E-324E-4420-A58C-1451A26E1E91}" type="slidenum">
              <a:rPr lang="en-US" sz="300" smtClean="0"/>
              <a:pPr/>
              <a:t>1</a:t>
            </a:fld>
            <a:endParaRPr lang="en-US" sz="300"/>
          </a:p>
        </p:txBody>
      </p:sp>
    </p:spTree>
    <p:extLst>
      <p:ext uri="{BB962C8B-B14F-4D97-AF65-F5344CB8AC3E}">
        <p14:creationId xmlns:p14="http://schemas.microsoft.com/office/powerpoint/2010/main" val="3565885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E9746-3E67-4984-B2FE-1AF1BA163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23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4A587-5FAF-42E6-BE45-17C25F99A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8EA6C-4A5C-449A-8168-A4D2F9419E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9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0888" y="9510713"/>
            <a:ext cx="18578512" cy="19750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9510713"/>
            <a:ext cx="18578513" cy="19750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4A3CC-8336-4978-A66C-FB77D18E1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9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5"/>
            <a:ext cx="19400837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7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8A453-5BDB-4A82-A97B-AE3AC9DF9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2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6625C-FC05-44C9-AD1B-5BE1C448AF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9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A2B76-BBD0-4131-9F1A-F9B85BA33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8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0D8EB-A991-429A-9F15-1E5050711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7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3" y="23042563"/>
            <a:ext cx="26335037" cy="2720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3" y="2941638"/>
            <a:ext cx="26335037" cy="197500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3" y="25763538"/>
            <a:ext cx="26335037" cy="3862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D1F85-FC8E-4B63-A86C-FC56C2C366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1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46AF8-960E-4160-8BB5-686F276EDF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0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3750" y="2924175"/>
            <a:ext cx="9326563" cy="26336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0888" y="2924175"/>
            <a:ext cx="27830462" cy="26336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589B9D-719E-42D8-8020-085B69862E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90888" y="2924175"/>
            <a:ext cx="373094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84" tIns="219442" rIns="438884" bIns="21944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90888" y="9510713"/>
            <a:ext cx="37309425" cy="1975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90888" y="29994225"/>
            <a:ext cx="91440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7113" y="29994225"/>
            <a:ext cx="1389697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6313" y="29994225"/>
            <a:ext cx="91440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fld id="{3288BF25-8EA1-41D0-B1F3-3529260375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2pPr>
      <a:lvl3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3pPr>
      <a:lvl4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4pPr>
      <a:lvl5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5pPr>
      <a:lvl6pPr marL="4572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6pPr>
      <a:lvl7pPr marL="9144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7pPr>
      <a:lvl8pPr marL="13716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8pPr>
      <a:lvl9pPr marL="18288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9pPr>
    </p:titleStyle>
    <p:bodyStyle>
      <a:lvl1pPr marL="1647825" indent="-1647825" algn="l" defTabSz="4387850" rtl="0" eaLnBrk="0" fontAlgn="base" hangingPunct="0">
        <a:spcBef>
          <a:spcPct val="20000"/>
        </a:spcBef>
        <a:spcAft>
          <a:spcPct val="0"/>
        </a:spcAft>
        <a:buChar char="•"/>
        <a:defRPr sz="15300">
          <a:solidFill>
            <a:schemeClr val="tx1"/>
          </a:solidFill>
          <a:latin typeface="+mn-lt"/>
          <a:ea typeface="+mn-ea"/>
          <a:cs typeface="+mn-cs"/>
        </a:defRPr>
      </a:lvl1pPr>
      <a:lvl2pPr marL="3565525" indent="-1370013" algn="l" defTabSz="4387850" rtl="0" eaLnBrk="0" fontAlgn="base" hangingPunct="0">
        <a:spcBef>
          <a:spcPct val="20000"/>
        </a:spcBef>
        <a:spcAft>
          <a:spcPct val="0"/>
        </a:spcAft>
        <a:buChar char="–"/>
        <a:defRPr sz="13300">
          <a:solidFill>
            <a:schemeClr val="tx1"/>
          </a:solidFill>
          <a:latin typeface="+mn-lt"/>
        </a:defRPr>
      </a:lvl2pPr>
      <a:lvl3pPr marL="5486400" indent="-1098550" algn="l" defTabSz="4387850" rtl="0" eaLnBrk="0" fontAlgn="base" hangingPunct="0">
        <a:spcBef>
          <a:spcPct val="20000"/>
        </a:spcBef>
        <a:spcAft>
          <a:spcPct val="0"/>
        </a:spcAft>
        <a:buChar char="•"/>
        <a:defRPr sz="11600">
          <a:solidFill>
            <a:schemeClr val="tx1"/>
          </a:solidFill>
          <a:latin typeface="+mn-lt"/>
        </a:defRPr>
      </a:lvl3pPr>
      <a:lvl4pPr marL="7678738" indent="-1093788" algn="l" defTabSz="438785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4pPr>
      <a:lvl5pPr marL="98758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5pPr>
      <a:lvl6pPr marL="103330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6pPr>
      <a:lvl7pPr marL="107902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7pPr>
      <a:lvl8pPr marL="112474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8pPr>
      <a:lvl9pPr marL="117046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1" name="Picture 1040">
            <a:extLst>
              <a:ext uri="{FF2B5EF4-FFF2-40B4-BE49-F238E27FC236}">
                <a16:creationId xmlns:a16="http://schemas.microsoft.com/office/drawing/2014/main" id="{764500AF-9AFA-B77A-8E7E-4DE6C68EB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58" y="16270849"/>
            <a:ext cx="11045743" cy="986301"/>
          </a:xfrm>
          <a:prstGeom prst="rect">
            <a:avLst/>
          </a:prstGeom>
        </p:spPr>
      </p:pic>
      <p:pic>
        <p:nvPicPr>
          <p:cNvPr id="1043" name="Picture 1042">
            <a:extLst>
              <a:ext uri="{FF2B5EF4-FFF2-40B4-BE49-F238E27FC236}">
                <a16:creationId xmlns:a16="http://schemas.microsoft.com/office/drawing/2014/main" id="{6810AB55-6C2E-9BF3-71CC-05B9091CD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0993" y="23882019"/>
            <a:ext cx="8860040" cy="8604140"/>
          </a:xfrm>
          <a:prstGeom prst="rect">
            <a:avLst/>
          </a:prstGeom>
        </p:spPr>
      </p:pic>
      <p:sp>
        <p:nvSpPr>
          <p:cNvPr id="1033" name="Rectangle 51"/>
          <p:cNvSpPr>
            <a:spLocks noChangeArrowheads="1"/>
          </p:cNvSpPr>
          <p:nvPr/>
        </p:nvSpPr>
        <p:spPr bwMode="auto">
          <a:xfrm>
            <a:off x="2147483647" y="2147483647"/>
            <a:ext cx="214748268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/>
          <a:p>
            <a:pPr algn="l" defTabSz="2259013">
              <a:lnSpc>
                <a:spcPct val="100000"/>
              </a:lnSpc>
              <a:spcBef>
                <a:spcPct val="0"/>
              </a:spcBef>
            </a:pPr>
            <a:r>
              <a:rPr lang="en-US" sz="7700" b="0"/>
              <a:t> </a:t>
            </a:r>
            <a:endParaRPr lang="en-US" sz="5900" b="0"/>
          </a:p>
        </p:txBody>
      </p:sp>
      <p:sp>
        <p:nvSpPr>
          <p:cNvPr id="1036" name="Text Box 89"/>
          <p:cNvSpPr txBox="1">
            <a:spLocks noChangeArrowheads="1"/>
          </p:cNvSpPr>
          <p:nvPr/>
        </p:nvSpPr>
        <p:spPr bwMode="auto">
          <a:xfrm>
            <a:off x="18619788" y="1143000"/>
            <a:ext cx="631825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/>
          </a:p>
        </p:txBody>
      </p:sp>
      <p:sp>
        <p:nvSpPr>
          <p:cNvPr id="1037" name="Rectangle 90"/>
          <p:cNvSpPr>
            <a:spLocks noChangeArrowheads="1"/>
          </p:cNvSpPr>
          <p:nvPr/>
        </p:nvSpPr>
        <p:spPr bwMode="auto">
          <a:xfrm>
            <a:off x="10058400" y="284939"/>
            <a:ext cx="25298400" cy="3418776"/>
          </a:xfrm>
          <a:prstGeom prst="rect">
            <a:avLst/>
          </a:prstGeom>
          <a:solidFill>
            <a:srgbClr val="F5CB2E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 anchor="ctr">
            <a:noAutofit/>
          </a:bodyPr>
          <a:lstStyle/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sz="7000" b="0" dirty="0"/>
              <a:t>Exploratory Data Analysis NFL 2022</a:t>
            </a:r>
          </a:p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sz="3800" b="0" i="1" dirty="0"/>
              <a:t>Analyzing the interaction between offensive formations, defensive coverages, and game phase on yards gained per play</a:t>
            </a:r>
            <a:endParaRPr lang="en-US" sz="3800" b="0" dirty="0"/>
          </a:p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sz="5300" b="0" dirty="0"/>
              <a:t>Lan Vu– Dec 2026</a:t>
            </a:r>
          </a:p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sz="5300" b="0" dirty="0"/>
              <a:t>Dr. Ray Herman</a:t>
            </a:r>
          </a:p>
        </p:txBody>
      </p:sp>
      <p:sp>
        <p:nvSpPr>
          <p:cNvPr id="1039" name="Text Box 729"/>
          <p:cNvSpPr txBox="1">
            <a:spLocks noChangeArrowheads="1"/>
          </p:cNvSpPr>
          <p:nvPr/>
        </p:nvSpPr>
        <p:spPr bwMode="auto">
          <a:xfrm>
            <a:off x="15240000" y="9448800"/>
            <a:ext cx="2327275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129173" y="3918675"/>
            <a:ext cx="27183992" cy="17932870"/>
            <a:chOff x="129173" y="3918675"/>
            <a:chExt cx="27183992" cy="17932870"/>
          </a:xfrm>
        </p:grpSpPr>
        <p:sp>
          <p:nvSpPr>
            <p:cNvPr id="28" name="TextBox 27"/>
            <p:cNvSpPr txBox="1"/>
            <p:nvPr/>
          </p:nvSpPr>
          <p:spPr>
            <a:xfrm>
              <a:off x="129173" y="11676452"/>
              <a:ext cx="11485789" cy="10175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600" b="0" dirty="0"/>
                <a:t>To simplify defensive variety, pass coverages were grouped into broader categories (Cover-0/1/2, Cover-3/6, Quarters, and Red Zone). Offensive formations were also regrouped, combining Jumbo and Wildcat into a single Situational category to reflect their specialized usage near the goal line.</a:t>
              </a:r>
            </a:p>
            <a:p>
              <a:pPr>
                <a:lnSpc>
                  <a:spcPct val="80000"/>
                </a:lnSpc>
              </a:pPr>
              <a:r>
                <a:rPr lang="en-US" sz="3600" b="0" dirty="0"/>
                <a:t>An ANOVA test was first conducted by quarter to evaluate differences in yards gained, which were later condensed into two game phases Early (Q1–Q3) and Late/Overtime for clearer comparison.</a:t>
              </a:r>
            </a:p>
            <a:p>
              <a:pPr>
                <a:lnSpc>
                  <a:spcPct val="80000"/>
                </a:lnSpc>
              </a:pPr>
              <a:r>
                <a:rPr lang="en-US" sz="3600" b="0" dirty="0"/>
                <a:t>A multiple linear regression model,</a:t>
              </a:r>
            </a:p>
            <a:p>
              <a:pPr>
                <a:lnSpc>
                  <a:spcPct val="80000"/>
                </a:lnSpc>
              </a:pPr>
              <a:endParaRPr lang="en-US" sz="3600" b="0" dirty="0"/>
            </a:p>
            <a:p>
              <a:pPr>
                <a:lnSpc>
                  <a:spcPct val="80000"/>
                </a:lnSpc>
              </a:pPr>
              <a:r>
                <a:rPr lang="en-US" sz="3600" b="0" dirty="0"/>
                <a:t>R2=0.009 indicates high play-to-play variability, this is expected given the complexity and noise in football data.</a:t>
              </a:r>
            </a:p>
            <a:p>
              <a:pPr>
                <a:lnSpc>
                  <a:spcPct val="80000"/>
                </a:lnSpc>
              </a:pPr>
              <a:r>
                <a:rPr lang="en-US" sz="3600" b="0" dirty="0"/>
                <a:t>Interaction effects were visualized using mean yardage plots, revealing how certain formations perform differently against specific coverages across game phases.</a:t>
              </a:r>
            </a:p>
            <a:p>
              <a:pPr>
                <a:lnSpc>
                  <a:spcPct val="80000"/>
                </a:lnSpc>
              </a:pPr>
              <a:r>
                <a:rPr lang="en-US" sz="3600" b="0" dirty="0"/>
                <a:t>Regression assumptions such as normality and homoscedasticity were not tested in this exploratory phase, so statistical significance should be interpreted cautiously</a:t>
              </a:r>
            </a:p>
          </p:txBody>
        </p:sp>
        <p:sp>
          <p:nvSpPr>
            <p:cNvPr id="1031" name="Text Box 15"/>
            <p:cNvSpPr txBox="1">
              <a:spLocks noChangeArrowheads="1"/>
            </p:cNvSpPr>
            <p:nvPr/>
          </p:nvSpPr>
          <p:spPr bwMode="auto">
            <a:xfrm>
              <a:off x="16501835" y="3918675"/>
              <a:ext cx="10811330" cy="984726"/>
            </a:xfrm>
            <a:prstGeom prst="rect">
              <a:avLst/>
            </a:prstGeom>
            <a:solidFill>
              <a:srgbClr val="F5CB2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25903" tIns="112951" rIns="225903" bIns="112951" anchor="ctr">
              <a:spAutoFit/>
            </a:bodyPr>
            <a:lstStyle>
              <a:lvl1pPr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5900" dirty="0"/>
                <a:t>Result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81001" y="3777885"/>
            <a:ext cx="43004142" cy="6710557"/>
            <a:chOff x="301914" y="3954187"/>
            <a:chExt cx="43004142" cy="6710557"/>
          </a:xfrm>
        </p:grpSpPr>
        <p:sp>
          <p:nvSpPr>
            <p:cNvPr id="48" name="TextBox 47"/>
            <p:cNvSpPr txBox="1"/>
            <p:nvPr/>
          </p:nvSpPr>
          <p:spPr>
            <a:xfrm>
              <a:off x="301914" y="5166636"/>
              <a:ext cx="10744200" cy="5498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75000"/>
                </a:lnSpc>
              </a:pPr>
              <a:r>
                <a:rPr lang="en-US" sz="3600" b="0" dirty="0"/>
                <a:t>This study explores how offensive formations interact with defensive coverages to affect yards gained per play in the NFL 2022 season. Using exploratory data analysis.</a:t>
              </a:r>
            </a:p>
            <a:p>
              <a:pPr>
                <a:lnSpc>
                  <a:spcPct val="75000"/>
                </a:lnSpc>
              </a:pPr>
              <a:r>
                <a:rPr lang="en-US" sz="3600" b="0" dirty="0"/>
                <a:t>I compare formations such as Shotgun, I-Form, </a:t>
              </a:r>
              <a:r>
                <a:rPr lang="en-US" sz="3600" b="0" dirty="0" err="1"/>
                <a:t>Singleback</a:t>
              </a:r>
              <a:r>
                <a:rPr lang="en-US" sz="3600" b="0" dirty="0"/>
                <a:t>, and Situational (Jumbo/Wildcat) against different pass coverages .</a:t>
              </a:r>
            </a:p>
            <a:p>
              <a:pPr>
                <a:lnSpc>
                  <a:spcPct val="75000"/>
                </a:lnSpc>
              </a:pPr>
              <a:r>
                <a:rPr lang="en-US" sz="3600" b="0" dirty="0"/>
                <a:t>Game phase (early vs. late) is also examined to capture contextual shifts in performance.</a:t>
              </a:r>
            </a:p>
            <a:p>
              <a:pPr>
                <a:lnSpc>
                  <a:spcPct val="75000"/>
                </a:lnSpc>
              </a:pPr>
              <a:r>
                <a:rPr lang="en-US" sz="3600" b="0" dirty="0"/>
                <a:t>Together, these analyses reveal how formation–coverage dynamics shape offensive success across different game scenarios.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304310" y="3954187"/>
              <a:ext cx="43001746" cy="1035757"/>
              <a:chOff x="304310" y="3954187"/>
              <a:chExt cx="43001746" cy="1035757"/>
            </a:xfrm>
          </p:grpSpPr>
          <p:sp>
            <p:nvSpPr>
              <p:cNvPr id="1030" name="Text Box 12"/>
              <p:cNvSpPr txBox="1">
                <a:spLocks noChangeArrowheads="1"/>
              </p:cNvSpPr>
              <p:nvPr/>
            </p:nvSpPr>
            <p:spPr bwMode="auto">
              <a:xfrm>
                <a:off x="304310" y="4005218"/>
                <a:ext cx="10818004" cy="984726"/>
              </a:xfrm>
              <a:prstGeom prst="rect">
                <a:avLst/>
              </a:prstGeom>
              <a:solidFill>
                <a:srgbClr val="F5CB2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225903" tIns="112951" rIns="225903" bIns="112951" anchor="ctr">
                <a:spAutoFit/>
              </a:bodyPr>
              <a:lstStyle>
                <a:lvl1pPr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5900" dirty="0"/>
                  <a:t>INTRODUCTION</a:t>
                </a:r>
              </a:p>
            </p:txBody>
          </p:sp>
          <p:sp>
            <p:nvSpPr>
              <p:cNvPr id="26" name="Text Box 18"/>
              <p:cNvSpPr txBox="1">
                <a:spLocks noChangeArrowheads="1"/>
              </p:cNvSpPr>
              <p:nvPr/>
            </p:nvSpPr>
            <p:spPr bwMode="auto">
              <a:xfrm>
                <a:off x="32494726" y="3954187"/>
                <a:ext cx="10811330" cy="984726"/>
              </a:xfrm>
              <a:prstGeom prst="rect">
                <a:avLst/>
              </a:prstGeom>
              <a:solidFill>
                <a:srgbClr val="F5CB2E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225903" tIns="112951" rIns="225903" bIns="112951" anchor="ctr">
                <a:spAutoFit/>
              </a:bodyPr>
              <a:lstStyle>
                <a:lvl1pPr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5900" dirty="0"/>
                  <a:t>DISCUSSION</a:t>
                </a:r>
              </a:p>
            </p:txBody>
          </p:sp>
        </p:grpSp>
      </p:grpSp>
      <p:sp>
        <p:nvSpPr>
          <p:cNvPr id="50" name="TextBox 49"/>
          <p:cNvSpPr txBox="1"/>
          <p:nvPr/>
        </p:nvSpPr>
        <p:spPr>
          <a:xfrm>
            <a:off x="32765612" y="4856401"/>
            <a:ext cx="10744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400" u="sng" dirty="0"/>
              <a:t>Regression model</a:t>
            </a:r>
            <a:endParaRPr lang="en-US" sz="34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32358274" y="26512542"/>
            <a:ext cx="11277600" cy="6075892"/>
            <a:chOff x="32468833" y="21365102"/>
            <a:chExt cx="11277600" cy="6075892"/>
          </a:xfrm>
        </p:grpSpPr>
        <p:sp>
          <p:nvSpPr>
            <p:cNvPr id="1032" name="Text Box 18"/>
            <p:cNvSpPr txBox="1">
              <a:spLocks noChangeArrowheads="1"/>
            </p:cNvSpPr>
            <p:nvPr/>
          </p:nvSpPr>
          <p:spPr bwMode="auto">
            <a:xfrm>
              <a:off x="32697433" y="21365102"/>
              <a:ext cx="10820400" cy="984726"/>
            </a:xfrm>
            <a:prstGeom prst="rect">
              <a:avLst/>
            </a:prstGeom>
            <a:solidFill>
              <a:srgbClr val="F5CB2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25903" tIns="112951" rIns="225903" bIns="112951" anchor="ctr">
              <a:spAutoFit/>
            </a:bodyPr>
            <a:lstStyle>
              <a:lvl1pPr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5900" b="0" dirty="0"/>
                <a:t>Conclusion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468833" y="22639680"/>
              <a:ext cx="11277600" cy="4801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600" b="0" dirty="0"/>
                <a:t>Overall, the analysis indicates that formation–coverage dynamics shape offensive outcomes more than game phase alone. Early- and late-game phases produced similar mean yardage trends, implying that situational context may be stronger predictors than time.</a:t>
              </a:r>
            </a:p>
            <a:p>
              <a:pPr>
                <a:lnSpc>
                  <a:spcPct val="80000"/>
                </a:lnSpc>
              </a:pPr>
              <a:r>
                <a:rPr lang="en-US" sz="3600" b="0" dirty="0"/>
                <a:t> The exploratory findings emphasize descriptive insight over prediction. Future research should incorporate multilevel modeling and additional variables (down, distance, player alignment) to better explain performance variability.</a:t>
              </a:r>
            </a:p>
          </p:txBody>
        </p:sp>
      </p:grpSp>
      <p:pic>
        <p:nvPicPr>
          <p:cNvPr id="29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1001" y="385593"/>
            <a:ext cx="8833643" cy="2814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CC8876A6-2B00-84F6-8B20-3B510CC1BC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11000" y="6324600"/>
            <a:ext cx="2019300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4F520FB-77DA-0F88-71A2-338B058BF0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93200" y="1630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Text Box 18">
            <a:extLst>
              <a:ext uri="{FF2B5EF4-FFF2-40B4-BE49-F238E27FC236}">
                <a16:creationId xmlns:a16="http://schemas.microsoft.com/office/drawing/2014/main" id="{70D4C5D7-7634-BFA7-9FBF-4DC5B18B0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10498153"/>
            <a:ext cx="10820400" cy="984726"/>
          </a:xfrm>
          <a:prstGeom prst="rect">
            <a:avLst/>
          </a:prstGeom>
          <a:solidFill>
            <a:srgbClr val="F5CB2E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25903" tIns="112951" rIns="225903" bIns="112951" anchor="ctr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5900" dirty="0"/>
              <a:t>Method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CEF95887-BF09-1EDA-1636-B8CCFC6FBA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1000" y="4903401"/>
            <a:ext cx="9616491" cy="9736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33C461-E391-C0D6-A45E-5F3F17FB61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27116" y="5183592"/>
            <a:ext cx="11536060" cy="91238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3AFFFB-FA57-83FC-5D96-85F8F708BF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12254" y="14761691"/>
            <a:ext cx="10995346" cy="91203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545A13-9211-308A-06E7-D938761D62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36633" y="14888836"/>
            <a:ext cx="10744200" cy="87426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19D5534-B91D-02F4-1286-85134FFB9E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58274" y="13738685"/>
            <a:ext cx="11403753" cy="690664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8D57459-96CD-709B-0122-26B8F6A46C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63176" y="5486280"/>
            <a:ext cx="8727479" cy="138212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C044647-6C7E-FA89-9547-9ED97669C3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21033" y="23783905"/>
            <a:ext cx="11037241" cy="880452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4AEB7D5-8AFA-621A-5BAC-C4A627252A05}"/>
              </a:ext>
            </a:extLst>
          </p:cNvPr>
          <p:cNvSpPr txBox="1"/>
          <p:nvPr/>
        </p:nvSpPr>
        <p:spPr>
          <a:xfrm>
            <a:off x="-1626200" y="22489205"/>
            <a:ext cx="4976556" cy="38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Figure 1a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F03C5E-57A9-7F8A-90CC-0F9D0755FB9E}"/>
              </a:ext>
            </a:extLst>
          </p:cNvPr>
          <p:cNvSpPr txBox="1"/>
          <p:nvPr/>
        </p:nvSpPr>
        <p:spPr>
          <a:xfrm>
            <a:off x="10952255" y="5694218"/>
            <a:ext cx="4976556" cy="38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Figure 2a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342582-E44E-A75E-139F-8D26DF837991}"/>
              </a:ext>
            </a:extLst>
          </p:cNvPr>
          <p:cNvSpPr txBox="1"/>
          <p:nvPr/>
        </p:nvSpPr>
        <p:spPr>
          <a:xfrm>
            <a:off x="16131510" y="15528915"/>
            <a:ext cx="4976556" cy="38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Figure 2c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96CE02-A11C-640F-4F50-C876F3DD15B9}"/>
              </a:ext>
            </a:extLst>
          </p:cNvPr>
          <p:cNvSpPr txBox="1"/>
          <p:nvPr/>
        </p:nvSpPr>
        <p:spPr>
          <a:xfrm>
            <a:off x="25032897" y="15109120"/>
            <a:ext cx="4976556" cy="38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Figure 2d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F2B90D-F6D0-D4EA-A794-06B05C81C16B}"/>
              </a:ext>
            </a:extLst>
          </p:cNvPr>
          <p:cNvSpPr txBox="1"/>
          <p:nvPr/>
        </p:nvSpPr>
        <p:spPr>
          <a:xfrm>
            <a:off x="21555210" y="24790098"/>
            <a:ext cx="4976556" cy="38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Figure 2e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DC1A9B-C958-4582-F736-F6EF4787FBB1}"/>
              </a:ext>
            </a:extLst>
          </p:cNvPr>
          <p:cNvSpPr txBox="1"/>
          <p:nvPr/>
        </p:nvSpPr>
        <p:spPr>
          <a:xfrm>
            <a:off x="10899567" y="24021641"/>
            <a:ext cx="4976556" cy="38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Table 2a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4AD020-76FC-1034-C1CE-296A11CE55A0}"/>
              </a:ext>
            </a:extLst>
          </p:cNvPr>
          <p:cNvSpPr txBox="1"/>
          <p:nvPr/>
        </p:nvSpPr>
        <p:spPr>
          <a:xfrm>
            <a:off x="32573813" y="13123132"/>
            <a:ext cx="10744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400" u="sng" dirty="0"/>
              <a:t>Interaction Terms</a:t>
            </a:r>
            <a:endParaRPr lang="en-US" sz="3400" b="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E1BEB8-F94B-5E85-CB28-E3F452E546AE}"/>
              </a:ext>
            </a:extLst>
          </p:cNvPr>
          <p:cNvSpPr txBox="1"/>
          <p:nvPr/>
        </p:nvSpPr>
        <p:spPr>
          <a:xfrm>
            <a:off x="27838514" y="4797076"/>
            <a:ext cx="4976556" cy="38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Figure 2b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5A3C49-EB0E-B317-FF40-0F36E676D92C}"/>
              </a:ext>
            </a:extLst>
          </p:cNvPr>
          <p:cNvSpPr txBox="1"/>
          <p:nvPr/>
        </p:nvSpPr>
        <p:spPr>
          <a:xfrm>
            <a:off x="32448108" y="6953449"/>
            <a:ext cx="112776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0" dirty="0"/>
              <a:t>The multiple linear regression model explained roughly 1% of the variance.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0" dirty="0"/>
              <a:t>This low explanatory power reflects the high variability and clustering inherent in football data, where outcomes are influenced by team tendencies, player ability, and situational context.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0" dirty="0"/>
              <a:t>The model treats plays as independent, but observations are likely clustered by team or game, which violates independence assumptions and suggests that a mixed-effects or hierarchical model would better capture team-level patterns.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3400" b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900BE1-67F3-B065-0FE3-52B38F6B57BD}"/>
              </a:ext>
            </a:extLst>
          </p:cNvPr>
          <p:cNvSpPr txBox="1"/>
          <p:nvPr/>
        </p:nvSpPr>
        <p:spPr>
          <a:xfrm>
            <a:off x="32607656" y="20838149"/>
            <a:ext cx="10421466" cy="558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buNone/>
            </a:pPr>
            <a:r>
              <a:rPr lang="en-US" sz="3600" b="0" dirty="0"/>
              <a:t>In the interaction plots (Figures 2b–2d), Shotgun and </a:t>
            </a:r>
            <a:r>
              <a:rPr lang="en-US" sz="3600" b="0" dirty="0" err="1"/>
              <a:t>Singleback</a:t>
            </a:r>
            <a:r>
              <a:rPr lang="en-US" sz="3600" b="0" dirty="0"/>
              <a:t> formations show relatively stable yardage across most coverages. </a:t>
            </a:r>
          </a:p>
          <a:p>
            <a:pPr>
              <a:lnSpc>
                <a:spcPct val="70000"/>
              </a:lnSpc>
              <a:buNone/>
            </a:pPr>
            <a:r>
              <a:rPr lang="en-US" sz="3600" b="0" dirty="0"/>
              <a:t>While I-Form and Situational formations fluctuate more sharply, particularly under Cover-2 and Quarters defenses. </a:t>
            </a:r>
          </a:p>
          <a:p>
            <a:pPr>
              <a:lnSpc>
                <a:spcPct val="70000"/>
              </a:lnSpc>
              <a:buNone/>
            </a:pPr>
            <a:r>
              <a:rPr lang="en-US" sz="3600" b="0" dirty="0"/>
              <a:t>These results suggest that formation effectiveness depends on the defensive structure faced rather than the formation itself. </a:t>
            </a:r>
          </a:p>
          <a:p>
            <a:pPr>
              <a:lnSpc>
                <a:spcPct val="70000"/>
              </a:lnSpc>
              <a:buNone/>
            </a:pPr>
            <a:r>
              <a:rPr lang="en-US" sz="3600" b="0" dirty="0"/>
              <a:t>Although only a few interaction terms were statistically significant (p &lt; 0.05), they highlight key tactical contrasts worth further modeling.</a:t>
            </a:r>
          </a:p>
        </p:txBody>
      </p:sp>
      <p:sp>
        <p:nvSpPr>
          <p:cNvPr id="1026" name="AutoShape 8">
            <a:extLst>
              <a:ext uri="{FF2B5EF4-FFF2-40B4-BE49-F238E27FC236}">
                <a16:creationId xmlns:a16="http://schemas.microsoft.com/office/drawing/2014/main" id="{3ED96591-B3CE-DA9C-7BDE-743C830AE8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45600" y="16459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1027">
            <a:extLst>
              <a:ext uri="{FF2B5EF4-FFF2-40B4-BE49-F238E27FC236}">
                <a16:creationId xmlns:a16="http://schemas.microsoft.com/office/drawing/2014/main" id="{8688BF22-FB33-F3D9-2939-65F7B42101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22750491"/>
            <a:ext cx="12248027" cy="10287000"/>
          </a:xfrm>
          <a:prstGeom prst="rect">
            <a:avLst/>
          </a:prstGeom>
        </p:spPr>
      </p:pic>
      <p:pic>
        <p:nvPicPr>
          <p:cNvPr id="1049" name="Picture 1048">
            <a:extLst>
              <a:ext uri="{FF2B5EF4-FFF2-40B4-BE49-F238E27FC236}">
                <a16:creationId xmlns:a16="http://schemas.microsoft.com/office/drawing/2014/main" id="{59D8761D-2FB1-18F2-9A39-8B7A11D3484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87656" y="329966"/>
            <a:ext cx="4144856" cy="32059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2259013" rtl="0" eaLnBrk="0" fontAlgn="base" latinLnBrk="0" hangingPunct="0">
          <a:lnSpc>
            <a:spcPct val="6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2259013" rtl="0" eaLnBrk="0" fontAlgn="base" latinLnBrk="0" hangingPunct="0">
          <a:lnSpc>
            <a:spcPct val="6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10547</TotalTime>
  <Words>526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Stephen J. Kinzey, Ph.D.</dc:creator>
  <cp:lastModifiedBy>Lan Vu</cp:lastModifiedBy>
  <cp:revision>198</cp:revision>
  <cp:lastPrinted>2025-11-10T20:22:38Z</cp:lastPrinted>
  <dcterms:created xsi:type="dcterms:W3CDTF">1999-06-15T14:29:13Z</dcterms:created>
  <dcterms:modified xsi:type="dcterms:W3CDTF">2025-11-10T20:47:45Z</dcterms:modified>
</cp:coreProperties>
</file>